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A8A4C-3116-4456-A1C2-813E7E215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C21613-85F9-45F8-8206-DE728691C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B86DA-6DC8-4EEF-A291-06D7D5ED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FEC18-82F5-402F-9779-C6086F70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F03A8-0670-4CEF-977C-A15EF393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65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D1A58-DE7E-4303-B789-7095014C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70BC1C-2BA1-47D9-A1EB-8FFC0BEB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54D4F3-D595-401B-B0FA-FC408B2D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44608-AF61-4970-A207-3B7D8FA7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1E779-8A73-4F75-9B1C-17FA7200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31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7FE1A-7D6C-437F-A13E-113FD676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AB08FC-7945-493A-886D-9D5A68B9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CC362A-02B5-48D9-BB17-045A2172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5BBF6-E8FB-42BB-8752-76FC516C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959C7E-E643-46DE-8F4B-4A782A6F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96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64851-9496-452B-BB7A-C72C7FAE6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985748-6C6D-4A55-89AF-579AFA20F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CAA0CA-5A0F-4681-9112-4FD461115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53AEA2-0286-43CC-84E8-18E7E970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C7797-CE21-4654-A0D0-DBA64D0B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476B78-0873-4387-8B1D-A00CE641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94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ACAC3-CF60-451F-AD6D-0F660EDD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C50316-DF2C-4C72-9193-AEAA61687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367B54-B8E8-4238-A9DF-02D0712FF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E785D5-666D-487C-8236-832CBFCDA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9888E5-1E9F-41AE-B544-46D7E25C9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47887F-A6FD-42CC-9F5E-739CEF5F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23FCD1-F752-4E9F-A97A-F137C4C5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8833B5-EF75-4074-985D-EEA2A4AC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21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0FDF0-61CA-48E4-9DB1-0B4D3234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16BE0E-454C-49C6-8CC7-080D714E4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A1332C-DAE3-488D-8CE2-E1279E55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D48AB8-CCD3-48E9-90D8-CCE92DFD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0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B493F8-6AE3-4D3C-AD99-0096470B3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C67344-27F8-4B9E-BA4A-C88D96F7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E1D7D8-18DF-4A93-9117-7C73D664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33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9D03C-D7CE-4C92-BA3A-315455B8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50C485-B1C3-4E59-A1F7-ACE7FF29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49A6B3-58C2-4E43-BA3D-FBDDFD2F4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8BA731-96CB-4B50-BA59-B273A3F7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2C232B-BA90-4EB6-9BB3-A4470CCD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F6536C-9161-4056-8C39-0CB8DEFD6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13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CAD7D-1ECE-4BDB-8D1A-53C693DA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F77F6C-06A9-452D-96ED-83336BA83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3686E8-C4C8-435C-8585-79512E676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952BA5-5873-4062-B5D1-222D6611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B4923-AD31-47CC-B189-D2922F57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8AA931-899E-4345-8DDF-ACDA4BB1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85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C40E6-479A-4218-AB95-10D40D36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BE80DF-F86E-4951-B938-209CAF40A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95CFC-0E76-49FA-8BA4-3B2D73AE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994454-42C2-48E7-ADC7-EBB87023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7A682A-4675-43C7-A814-FD93BE9A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47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71A13C-8475-4A95-85B6-58F47AF26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B07514-07DD-41F4-9415-80301DDD3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DE523-0A5E-4F15-BF7E-4B74B122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BBC48D-4D76-4F1D-902E-98870B50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C6FE78-D1C8-4AC9-BDBE-E7DCC507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23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00E2AD-00A7-4C97-986F-8EBD3085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AB1F57-3400-4A9B-8D44-59D634FFA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B27AD-BF1A-4E07-95F3-5C9C063DA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55946-747C-40DE-A69B-ABAA2F058DB3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F3A3E-6261-4AB5-86DB-F217F260C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272502-9DA8-4293-8507-9CBEBF18B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CE799-5385-4667-B722-B7200442D2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63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6F4E98-8971-453D-9994-71FBAB90A240}"/>
              </a:ext>
            </a:extLst>
          </p:cNvPr>
          <p:cNvSpPr/>
          <p:nvPr/>
        </p:nvSpPr>
        <p:spPr>
          <a:xfrm>
            <a:off x="237066" y="2637367"/>
            <a:ext cx="2074334" cy="533400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Client (Browser / Frontend</a:t>
            </a:r>
            <a:r>
              <a:rPr lang="en-US" altLang="ko-KR" sz="1200" dirty="0"/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CE9E8B-1DA4-4A9C-A9BB-D8E0382406C4}"/>
              </a:ext>
            </a:extLst>
          </p:cNvPr>
          <p:cNvSpPr/>
          <p:nvPr/>
        </p:nvSpPr>
        <p:spPr>
          <a:xfrm>
            <a:off x="4241799" y="2455333"/>
            <a:ext cx="1617134" cy="897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Gateway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- JWT </a:t>
            </a:r>
            <a:r>
              <a:rPr lang="ko-KR" altLang="en-US" sz="1200" dirty="0">
                <a:solidFill>
                  <a:schemeClr val="tx1"/>
                </a:solidFill>
              </a:rPr>
              <a:t>검증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- X-User-Id </a:t>
            </a:r>
            <a:r>
              <a:rPr lang="ko-KR" altLang="en-US" sz="1200" dirty="0">
                <a:solidFill>
                  <a:schemeClr val="tx1"/>
                </a:solidFill>
              </a:rPr>
              <a:t>전달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- X-Roles </a:t>
            </a:r>
            <a:r>
              <a:rPr lang="ko-KR" altLang="en-US" sz="1200" dirty="0">
                <a:solidFill>
                  <a:schemeClr val="tx1"/>
                </a:solidFill>
              </a:rPr>
              <a:t>전달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6DB39CE-9A65-42BD-A225-61A99B3E429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11400" y="2904067"/>
            <a:ext cx="19303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BE3122-574C-4E66-913E-9B8792FA5A10}"/>
              </a:ext>
            </a:extLst>
          </p:cNvPr>
          <p:cNvSpPr txBox="1"/>
          <p:nvPr/>
        </p:nvSpPr>
        <p:spPr>
          <a:xfrm>
            <a:off x="2413003" y="2637367"/>
            <a:ext cx="1693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Authorization: Bearer JWT</a:t>
            </a:r>
            <a:endParaRPr lang="ko-KR" altLang="en-US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DC38FB-4CF5-4779-BDCD-A21ED24825A5}"/>
              </a:ext>
            </a:extLst>
          </p:cNvPr>
          <p:cNvSpPr>
            <a:spLocks/>
          </p:cNvSpPr>
          <p:nvPr/>
        </p:nvSpPr>
        <p:spPr>
          <a:xfrm>
            <a:off x="7903033" y="1087000"/>
            <a:ext cx="2133600" cy="355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Auth Service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34069F-615E-4CEF-9193-A86375782612}"/>
              </a:ext>
            </a:extLst>
          </p:cNvPr>
          <p:cNvSpPr>
            <a:spLocks/>
          </p:cNvSpPr>
          <p:nvPr/>
        </p:nvSpPr>
        <p:spPr>
          <a:xfrm>
            <a:off x="7903033" y="1910171"/>
            <a:ext cx="2133600" cy="355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User Service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EF4BE6F-A5CD-4765-8A01-2F3FE1BC2997}"/>
              </a:ext>
            </a:extLst>
          </p:cNvPr>
          <p:cNvSpPr>
            <a:spLocks/>
          </p:cNvSpPr>
          <p:nvPr/>
        </p:nvSpPr>
        <p:spPr>
          <a:xfrm>
            <a:off x="7903033" y="2734820"/>
            <a:ext cx="2133600" cy="356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Product Service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GET /</a:t>
            </a:r>
            <a:r>
              <a:rPr lang="en-US" altLang="ko-KR" sz="800" dirty="0" err="1">
                <a:solidFill>
                  <a:schemeClr val="tx1"/>
                </a:solidFill>
              </a:rPr>
              <a:t>api</a:t>
            </a:r>
            <a:r>
              <a:rPr lang="en-US" altLang="ko-KR" sz="800" dirty="0">
                <a:solidFill>
                  <a:schemeClr val="tx1"/>
                </a:solidFill>
              </a:rPr>
              <a:t>/products/** : </a:t>
            </a:r>
            <a:r>
              <a:rPr lang="en-US" altLang="ko-KR" sz="800" dirty="0" err="1">
                <a:solidFill>
                  <a:schemeClr val="tx1"/>
                </a:solidFill>
              </a:rPr>
              <a:t>permitAll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10CC68-1F5C-4BE7-9DA6-566296634F2E}"/>
              </a:ext>
            </a:extLst>
          </p:cNvPr>
          <p:cNvSpPr>
            <a:spLocks/>
          </p:cNvSpPr>
          <p:nvPr/>
        </p:nvSpPr>
        <p:spPr>
          <a:xfrm>
            <a:off x="7903033" y="3603329"/>
            <a:ext cx="2133600" cy="355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Order Service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E0CB8D-9558-48F2-9D5C-018334AAE895}"/>
              </a:ext>
            </a:extLst>
          </p:cNvPr>
          <p:cNvSpPr>
            <a:spLocks/>
          </p:cNvSpPr>
          <p:nvPr/>
        </p:nvSpPr>
        <p:spPr>
          <a:xfrm>
            <a:off x="7903033" y="4516409"/>
            <a:ext cx="2133600" cy="355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Payment Service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0BB1A73-2875-4CA8-87BE-DEC4B9A7D5D4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 flipV="1">
            <a:off x="5858933" y="1264800"/>
            <a:ext cx="2044100" cy="163926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CB45F4D1-1ECA-4138-A455-1031909C9D12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5858933" y="2087971"/>
            <a:ext cx="2044100" cy="8160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67088E0-2D72-42A3-9B3D-D61260856673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5858933" y="2904067"/>
            <a:ext cx="2044100" cy="895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EB31863A-5719-49CF-9BB4-3386497C00EB}"/>
              </a:ext>
            </a:extLst>
          </p:cNvPr>
          <p:cNvCxnSpPr>
            <a:stCxn id="5" idx="3"/>
            <a:endCxn id="19" idx="1"/>
          </p:cNvCxnSpPr>
          <p:nvPr/>
        </p:nvCxnSpPr>
        <p:spPr>
          <a:xfrm>
            <a:off x="5858933" y="2904067"/>
            <a:ext cx="2044100" cy="87706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C8B68B0-50F2-4829-BA3F-C38E1E8ACEDE}"/>
              </a:ext>
            </a:extLst>
          </p:cNvPr>
          <p:cNvCxnSpPr>
            <a:stCxn id="5" idx="3"/>
            <a:endCxn id="20" idx="1"/>
          </p:cNvCxnSpPr>
          <p:nvPr/>
        </p:nvCxnSpPr>
        <p:spPr>
          <a:xfrm>
            <a:off x="5858933" y="2904067"/>
            <a:ext cx="2044100" cy="179014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414E058-4DC5-4371-A48F-333A70ED7F01}"/>
              </a:ext>
            </a:extLst>
          </p:cNvPr>
          <p:cNvSpPr txBox="1"/>
          <p:nvPr/>
        </p:nvSpPr>
        <p:spPr>
          <a:xfrm>
            <a:off x="6033279" y="2475175"/>
            <a:ext cx="753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X-User-Id</a:t>
            </a:r>
          </a:p>
          <a:p>
            <a:r>
              <a:rPr lang="en-US" altLang="ko-KR" sz="1000" dirty="0"/>
              <a:t>X-Roles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45D277-6E9F-47E1-A588-04386D5C761A}"/>
              </a:ext>
            </a:extLst>
          </p:cNvPr>
          <p:cNvSpPr/>
          <p:nvPr/>
        </p:nvSpPr>
        <p:spPr>
          <a:xfrm>
            <a:off x="10139274" y="1132349"/>
            <a:ext cx="1290730" cy="2649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Owns </a:t>
            </a:r>
            <a:r>
              <a:rPr lang="en-US" altLang="ko-KR" sz="1000" dirty="0" err="1">
                <a:solidFill>
                  <a:schemeClr val="tx1"/>
                </a:solidFill>
              </a:rPr>
              <a:t>auth_db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198893C-DB8B-44AA-B14B-0B0726771320}"/>
              </a:ext>
            </a:extLst>
          </p:cNvPr>
          <p:cNvSpPr/>
          <p:nvPr/>
        </p:nvSpPr>
        <p:spPr>
          <a:xfrm>
            <a:off x="10139273" y="1954053"/>
            <a:ext cx="1290730" cy="2649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Owns </a:t>
            </a:r>
            <a:r>
              <a:rPr lang="en-US" altLang="ko-KR" sz="1000" dirty="0" err="1">
                <a:solidFill>
                  <a:schemeClr val="tx1"/>
                </a:solidFill>
              </a:rPr>
              <a:t>user_db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BCF7CDF-0119-4C21-8C15-0C4113397684}"/>
              </a:ext>
            </a:extLst>
          </p:cNvPr>
          <p:cNvSpPr/>
          <p:nvPr/>
        </p:nvSpPr>
        <p:spPr>
          <a:xfrm>
            <a:off x="10139272" y="2780947"/>
            <a:ext cx="1290730" cy="2649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Owns product_db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9D26604-6873-4885-B843-FDCA5675A193}"/>
              </a:ext>
            </a:extLst>
          </p:cNvPr>
          <p:cNvSpPr/>
          <p:nvPr/>
        </p:nvSpPr>
        <p:spPr>
          <a:xfrm>
            <a:off x="10139271" y="3649467"/>
            <a:ext cx="1290730" cy="2649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Owns order_db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121E21D-4F22-4BF7-80B3-9F8EE2109B98}"/>
              </a:ext>
            </a:extLst>
          </p:cNvPr>
          <p:cNvSpPr/>
          <p:nvPr/>
        </p:nvSpPr>
        <p:spPr>
          <a:xfrm>
            <a:off x="10139270" y="4561080"/>
            <a:ext cx="1290730" cy="2649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Owns </a:t>
            </a:r>
            <a:r>
              <a:rPr lang="en-US" altLang="ko-KR" sz="1000" dirty="0" err="1">
                <a:solidFill>
                  <a:schemeClr val="tx1"/>
                </a:solidFill>
              </a:rPr>
              <a:t>payment_db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362DFBA-A268-42B4-B982-BDDA43E27444}"/>
              </a:ext>
            </a:extLst>
          </p:cNvPr>
          <p:cNvCxnSpPr>
            <a:cxnSpLocks/>
            <a:stCxn id="16" idx="3"/>
            <a:endCxn id="58" idx="1"/>
          </p:cNvCxnSpPr>
          <p:nvPr/>
        </p:nvCxnSpPr>
        <p:spPr>
          <a:xfrm>
            <a:off x="10036633" y="1264800"/>
            <a:ext cx="1026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7A0195-8F24-48C1-82B9-2178E92A2F73}"/>
              </a:ext>
            </a:extLst>
          </p:cNvPr>
          <p:cNvCxnSpPr>
            <a:cxnSpLocks/>
            <a:stCxn id="17" idx="3"/>
            <a:endCxn id="59" idx="1"/>
          </p:cNvCxnSpPr>
          <p:nvPr/>
        </p:nvCxnSpPr>
        <p:spPr>
          <a:xfrm flipV="1">
            <a:off x="10036633" y="2086504"/>
            <a:ext cx="102640" cy="14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A219313-3720-4A82-A4AA-56A306E9A3C7}"/>
              </a:ext>
            </a:extLst>
          </p:cNvPr>
          <p:cNvCxnSpPr>
            <a:cxnSpLocks/>
            <a:stCxn id="18" idx="3"/>
            <a:endCxn id="60" idx="1"/>
          </p:cNvCxnSpPr>
          <p:nvPr/>
        </p:nvCxnSpPr>
        <p:spPr>
          <a:xfrm>
            <a:off x="10036633" y="2913020"/>
            <a:ext cx="102639" cy="3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4903DF0-B6DF-4138-BEF1-0C1084656565}"/>
              </a:ext>
            </a:extLst>
          </p:cNvPr>
          <p:cNvCxnSpPr>
            <a:cxnSpLocks/>
            <a:stCxn id="19" idx="3"/>
            <a:endCxn id="61" idx="1"/>
          </p:cNvCxnSpPr>
          <p:nvPr/>
        </p:nvCxnSpPr>
        <p:spPr>
          <a:xfrm>
            <a:off x="10036633" y="3781129"/>
            <a:ext cx="102638" cy="7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62F7EEC-43E4-4720-A239-2403C10433C7}"/>
              </a:ext>
            </a:extLst>
          </p:cNvPr>
          <p:cNvCxnSpPr>
            <a:cxnSpLocks/>
            <a:stCxn id="20" idx="3"/>
            <a:endCxn id="62" idx="1"/>
          </p:cNvCxnSpPr>
          <p:nvPr/>
        </p:nvCxnSpPr>
        <p:spPr>
          <a:xfrm flipV="1">
            <a:off x="10036633" y="4693531"/>
            <a:ext cx="102637" cy="6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68ED14D-2BDD-4B2D-995B-81A2DF95328A}"/>
              </a:ext>
            </a:extLst>
          </p:cNvPr>
          <p:cNvCxnSpPr>
            <a:stCxn id="20" idx="0"/>
            <a:endCxn id="19" idx="2"/>
          </p:cNvCxnSpPr>
          <p:nvPr/>
        </p:nvCxnSpPr>
        <p:spPr>
          <a:xfrm flipV="1">
            <a:off x="8969833" y="3958929"/>
            <a:ext cx="0" cy="557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2D40909-7586-4A90-BA78-B910B8FEC172}"/>
              </a:ext>
            </a:extLst>
          </p:cNvPr>
          <p:cNvSpPr txBox="1"/>
          <p:nvPr/>
        </p:nvSpPr>
        <p:spPr>
          <a:xfrm>
            <a:off x="8951171" y="4142227"/>
            <a:ext cx="25161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X-Internal-Secret</a:t>
            </a: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internal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decrease-stock</a:t>
            </a: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DE1539F-6D09-436B-9591-CB280C39038C}"/>
              </a:ext>
            </a:extLst>
          </p:cNvPr>
          <p:cNvCxnSpPr>
            <a:cxnSpLocks/>
            <a:stCxn id="19" idx="0"/>
            <a:endCxn id="18" idx="2"/>
          </p:cNvCxnSpPr>
          <p:nvPr/>
        </p:nvCxnSpPr>
        <p:spPr>
          <a:xfrm flipV="1">
            <a:off x="8969833" y="3091220"/>
            <a:ext cx="0" cy="512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78D8E20D-408F-4979-BC52-9891A738B757}"/>
              </a:ext>
            </a:extLst>
          </p:cNvPr>
          <p:cNvSpPr txBox="1"/>
          <p:nvPr/>
        </p:nvSpPr>
        <p:spPr>
          <a:xfrm>
            <a:off x="8951171" y="3241532"/>
            <a:ext cx="2357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X-Internal-Secret</a:t>
            </a: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internal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/{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}/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mark-paid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87632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026AF3DB-FFAA-475C-8E11-05127DAA8956}"/>
              </a:ext>
            </a:extLst>
          </p:cNvPr>
          <p:cNvSpPr/>
          <p:nvPr/>
        </p:nvSpPr>
        <p:spPr>
          <a:xfrm>
            <a:off x="1301618" y="1938432"/>
            <a:ext cx="3228394" cy="96571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CREATED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75146F4-38CB-49E0-BBDD-18BC43FD03B8}"/>
              </a:ext>
            </a:extLst>
          </p:cNvPr>
          <p:cNvSpPr/>
          <p:nvPr/>
        </p:nvSpPr>
        <p:spPr>
          <a:xfrm>
            <a:off x="7389845" y="3858209"/>
            <a:ext cx="3228394" cy="96571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PAID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80DE8B7-F2F5-4326-B13D-04BA767BFC8D}"/>
              </a:ext>
            </a:extLst>
          </p:cNvPr>
          <p:cNvSpPr/>
          <p:nvPr/>
        </p:nvSpPr>
        <p:spPr>
          <a:xfrm>
            <a:off x="1301618" y="3858208"/>
            <a:ext cx="3228394" cy="96571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CANCELLED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F0A259C-3B0A-4A62-B4C3-5AA496D9683E}"/>
              </a:ext>
            </a:extLst>
          </p:cNvPr>
          <p:cNvSpPr/>
          <p:nvPr/>
        </p:nvSpPr>
        <p:spPr>
          <a:xfrm>
            <a:off x="7389845" y="1950097"/>
            <a:ext cx="3228394" cy="96571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PENDING_PAYMENT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4B7B0E-A329-43C4-B79E-36E8F5027757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4530012" y="2421291"/>
            <a:ext cx="2859833" cy="11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1CC489-1818-432E-BA7B-DDBBD336D3EE}"/>
              </a:ext>
            </a:extLst>
          </p:cNvPr>
          <p:cNvSpPr txBox="1"/>
          <p:nvPr/>
        </p:nvSpPr>
        <p:spPr>
          <a:xfrm>
            <a:off x="4906348" y="1938432"/>
            <a:ext cx="2175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CREATED → PENDING_PAYMENT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PayOrderService.startPayment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85552C0-9927-4D56-84FD-EC1A890926D7}"/>
              </a:ext>
            </a:extLst>
          </p:cNvPr>
          <p:cNvCxnSpPr>
            <a:stCxn id="7" idx="4"/>
            <a:endCxn id="5" idx="0"/>
          </p:cNvCxnSpPr>
          <p:nvPr/>
        </p:nvCxnSpPr>
        <p:spPr>
          <a:xfrm>
            <a:off x="9004042" y="2915814"/>
            <a:ext cx="0" cy="942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016277-5E46-410D-9C2B-76E4DA3A0B99}"/>
              </a:ext>
            </a:extLst>
          </p:cNvPr>
          <p:cNvSpPr txBox="1"/>
          <p:nvPr/>
        </p:nvSpPr>
        <p:spPr>
          <a:xfrm>
            <a:off x="9024258" y="3186956"/>
            <a:ext cx="2175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PENDING_PAYMENT → PAID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MarkOrderPaidService.markPaid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D6CD38D-2610-40EA-B94D-01713E5F1273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2915815" y="2904149"/>
            <a:ext cx="0" cy="9540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E28DF10-8B00-40FA-B94E-9A8A27EC064A}"/>
              </a:ext>
            </a:extLst>
          </p:cNvPr>
          <p:cNvSpPr txBox="1"/>
          <p:nvPr/>
        </p:nvSpPr>
        <p:spPr>
          <a:xfrm>
            <a:off x="2915815" y="3110008"/>
            <a:ext cx="24119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CREATED → CANCELLED</a:t>
            </a:r>
            <a:br>
              <a:rPr lang="en-US" altLang="ko-KR" sz="1000" dirty="0"/>
            </a:br>
            <a:r>
              <a:rPr lang="en-US" altLang="ko-KR" sz="1000" dirty="0"/>
              <a:t>PENDING_PAYMENT → CANCELLED</a:t>
            </a:r>
            <a:br>
              <a:rPr lang="en-US" altLang="ko-KR" sz="1000" dirty="0"/>
            </a:br>
            <a:r>
              <a:rPr lang="en-US" altLang="ko-KR" sz="1000" dirty="0"/>
              <a:t>(cancel())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F23D7-E370-4C02-BA3D-19C1BB3BD966}"/>
              </a:ext>
            </a:extLst>
          </p:cNvPr>
          <p:cNvSpPr txBox="1"/>
          <p:nvPr/>
        </p:nvSpPr>
        <p:spPr>
          <a:xfrm>
            <a:off x="3790173" y="5097219"/>
            <a:ext cx="4407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상태 변경은 </a:t>
            </a:r>
            <a:r>
              <a:rPr lang="en-US" altLang="ko-KR" sz="1200" b="1" dirty="0"/>
              <a:t>Order Aggregate </a:t>
            </a:r>
            <a:r>
              <a:rPr lang="ko-KR" altLang="en-US" sz="1200" b="1" dirty="0"/>
              <a:t>내부 메서드를 통해서만 가능</a:t>
            </a:r>
          </a:p>
        </p:txBody>
      </p:sp>
    </p:spTree>
    <p:extLst>
      <p:ext uri="{BB962C8B-B14F-4D97-AF65-F5344CB8AC3E}">
        <p14:creationId xmlns:p14="http://schemas.microsoft.com/office/powerpoint/2010/main" val="364004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2A2261B-B208-4528-B863-D7785EF70060}"/>
              </a:ext>
            </a:extLst>
          </p:cNvPr>
          <p:cNvSpPr txBox="1"/>
          <p:nvPr/>
        </p:nvSpPr>
        <p:spPr>
          <a:xfrm>
            <a:off x="5359493" y="3891047"/>
            <a:ext cx="1296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latin typeface="Arial Unicode MS"/>
                <a:ea typeface="JetBrains Mono"/>
              </a:rPr>
              <a:t>/internal/mark-paid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13C23A-F091-4BC3-B83D-C80AB0DA8AE8}"/>
              </a:ext>
            </a:extLst>
          </p:cNvPr>
          <p:cNvSpPr txBox="1"/>
          <p:nvPr/>
        </p:nvSpPr>
        <p:spPr>
          <a:xfrm>
            <a:off x="5393613" y="4155398"/>
            <a:ext cx="1228704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/>
              <a:t>PENDING_PAYMENT → PAID</a:t>
            </a:r>
            <a:endParaRPr lang="ko-KR" altLang="en-US" sz="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47231A-FD82-442D-8B0A-2332FBBEC37B}"/>
              </a:ext>
            </a:extLst>
          </p:cNvPr>
          <p:cNvSpPr/>
          <p:nvPr/>
        </p:nvSpPr>
        <p:spPr>
          <a:xfrm>
            <a:off x="526660" y="542818"/>
            <a:ext cx="1564607" cy="303849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Client</a:t>
            </a: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7457E2-FA5A-4220-A38D-A3647C9F860B}"/>
              </a:ext>
            </a:extLst>
          </p:cNvPr>
          <p:cNvSpPr/>
          <p:nvPr/>
        </p:nvSpPr>
        <p:spPr>
          <a:xfrm>
            <a:off x="2406261" y="542817"/>
            <a:ext cx="1564607" cy="303849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Gateway</a:t>
            </a:r>
            <a:endParaRPr lang="en-US" altLang="ko-KR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FDF649-4DF2-4C3D-A0B4-B54FB919E62A}"/>
              </a:ext>
            </a:extLst>
          </p:cNvPr>
          <p:cNvSpPr/>
          <p:nvPr/>
        </p:nvSpPr>
        <p:spPr>
          <a:xfrm>
            <a:off x="4285862" y="542817"/>
            <a:ext cx="1564607" cy="303849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ysClr val="windowText" lastClr="000000"/>
                </a:solidFill>
              </a:rPr>
              <a:t>Payment Service</a:t>
            </a:r>
            <a:endParaRPr lang="en-US" altLang="ko-KR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10778-AEB4-4798-BD00-9AFA06E078CC}"/>
              </a:ext>
            </a:extLst>
          </p:cNvPr>
          <p:cNvSpPr/>
          <p:nvPr/>
        </p:nvSpPr>
        <p:spPr>
          <a:xfrm>
            <a:off x="6165463" y="542816"/>
            <a:ext cx="1564607" cy="303849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ysClr val="windowText" lastClr="000000"/>
                </a:solidFill>
              </a:rPr>
              <a:t>Order Service</a:t>
            </a:r>
            <a:endParaRPr lang="en-US" altLang="ko-KR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076941-C5F7-4465-ABD6-71FE41FBCEC9}"/>
              </a:ext>
            </a:extLst>
          </p:cNvPr>
          <p:cNvSpPr/>
          <p:nvPr/>
        </p:nvSpPr>
        <p:spPr>
          <a:xfrm>
            <a:off x="8045064" y="542815"/>
            <a:ext cx="1564607" cy="303849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ysClr val="windowText" lastClr="000000"/>
                </a:solidFill>
              </a:rPr>
              <a:t>Product Service</a:t>
            </a:r>
            <a:endParaRPr lang="en-US" altLang="ko-KR" sz="12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69189AE-E51D-49F2-904F-A3CD7200B26A}"/>
              </a:ext>
            </a:extLst>
          </p:cNvPr>
          <p:cNvCxnSpPr>
            <a:stCxn id="4" idx="2"/>
          </p:cNvCxnSpPr>
          <p:nvPr/>
        </p:nvCxnSpPr>
        <p:spPr>
          <a:xfrm flipH="1">
            <a:off x="1308963" y="846667"/>
            <a:ext cx="1" cy="531706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F4447D3-745B-4DAD-AC02-2F941F022E75}"/>
              </a:ext>
            </a:extLst>
          </p:cNvPr>
          <p:cNvCxnSpPr/>
          <p:nvPr/>
        </p:nvCxnSpPr>
        <p:spPr>
          <a:xfrm flipH="1">
            <a:off x="3188564" y="846667"/>
            <a:ext cx="1" cy="531706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0170B80-DDA4-4FF1-8F4F-6DD3BCD18026}"/>
              </a:ext>
            </a:extLst>
          </p:cNvPr>
          <p:cNvCxnSpPr/>
          <p:nvPr/>
        </p:nvCxnSpPr>
        <p:spPr>
          <a:xfrm flipH="1">
            <a:off x="5068165" y="846667"/>
            <a:ext cx="1" cy="531706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49726AD-36A2-442F-9958-5C1B90BF50BB}"/>
              </a:ext>
            </a:extLst>
          </p:cNvPr>
          <p:cNvCxnSpPr/>
          <p:nvPr/>
        </p:nvCxnSpPr>
        <p:spPr>
          <a:xfrm flipH="1">
            <a:off x="6947765" y="846664"/>
            <a:ext cx="1" cy="531706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1912AA9-5E64-4E94-8AAD-F7291A667830}"/>
              </a:ext>
            </a:extLst>
          </p:cNvPr>
          <p:cNvCxnSpPr/>
          <p:nvPr/>
        </p:nvCxnSpPr>
        <p:spPr>
          <a:xfrm flipH="1">
            <a:off x="8827365" y="846661"/>
            <a:ext cx="1" cy="531706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6FEDA6-972A-4BD1-9974-7BC7188DB85C}"/>
              </a:ext>
            </a:extLst>
          </p:cNvPr>
          <p:cNvSpPr txBox="1"/>
          <p:nvPr/>
        </p:nvSpPr>
        <p:spPr>
          <a:xfrm>
            <a:off x="2334028" y="3674694"/>
            <a:ext cx="170907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/approve</a:t>
            </a:r>
            <a:endParaRPr lang="ko-KR" altLang="en-US" sz="10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016FFCF-8D13-4DCF-8617-02C8BC1E7D7E}"/>
              </a:ext>
            </a:extLst>
          </p:cNvPr>
          <p:cNvCxnSpPr>
            <a:cxnSpLocks/>
          </p:cNvCxnSpPr>
          <p:nvPr/>
        </p:nvCxnSpPr>
        <p:spPr>
          <a:xfrm>
            <a:off x="1308962" y="2084739"/>
            <a:ext cx="5638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4227ED-6CD1-474F-BD34-FAC39E96BD1B}"/>
              </a:ext>
            </a:extLst>
          </p:cNvPr>
          <p:cNvSpPr txBox="1"/>
          <p:nvPr/>
        </p:nvSpPr>
        <p:spPr>
          <a:xfrm>
            <a:off x="5761327" y="1497323"/>
            <a:ext cx="466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/pay</a:t>
            </a:r>
            <a:endParaRPr lang="ko-KR" altLang="en-US" sz="100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034EECA-76E5-4A61-ADE1-3F97C6805265}"/>
              </a:ext>
            </a:extLst>
          </p:cNvPr>
          <p:cNvCxnSpPr/>
          <p:nvPr/>
        </p:nvCxnSpPr>
        <p:spPr>
          <a:xfrm>
            <a:off x="5068165" y="4498682"/>
            <a:ext cx="1879600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AE6F512-D232-4CB8-B1F9-5CD154F685E1}"/>
              </a:ext>
            </a:extLst>
          </p:cNvPr>
          <p:cNvCxnSpPr/>
          <p:nvPr/>
        </p:nvCxnSpPr>
        <p:spPr>
          <a:xfrm>
            <a:off x="6947765" y="5322886"/>
            <a:ext cx="1879600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0CC064D-DA4D-4FBF-A61F-D5B570B6D270}"/>
              </a:ext>
            </a:extLst>
          </p:cNvPr>
          <p:cNvSpPr txBox="1"/>
          <p:nvPr/>
        </p:nvSpPr>
        <p:spPr>
          <a:xfrm>
            <a:off x="7105265" y="4738111"/>
            <a:ext cx="1564599" cy="2462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Arial Unicode MS"/>
                <a:ea typeface="JetBrains Mono"/>
              </a:rPr>
              <a:t>/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ysClr val="windowText" lastClr="000000"/>
                </a:solidFill>
                <a:effectLst/>
                <a:latin typeface="Arial Unicode MS"/>
                <a:ea typeface="JetBrains Mono"/>
              </a:rPr>
              <a:t>internal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Arial Unicode MS"/>
                <a:ea typeface="JetBrains Mono"/>
              </a:rPr>
              <a:t>/</a:t>
            </a:r>
            <a:r>
              <a:rPr lang="en-US" altLang="ko-KR" sz="1000" dirty="0">
                <a:solidFill>
                  <a:sysClr val="windowText" lastClr="000000"/>
                </a:solidFill>
                <a:latin typeface="Arial Unicode MS"/>
                <a:ea typeface="JetBrains Mono"/>
              </a:rPr>
              <a:t>decrease-stock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23EC061-3ACA-48F0-BF72-E327D13429FA}"/>
              </a:ext>
            </a:extLst>
          </p:cNvPr>
          <p:cNvSpPr/>
          <p:nvPr/>
        </p:nvSpPr>
        <p:spPr>
          <a:xfrm>
            <a:off x="2406259" y="915220"/>
            <a:ext cx="1564607" cy="589116"/>
          </a:xfrm>
          <a:prstGeom prst="rect">
            <a:avLst/>
          </a:prstGeom>
          <a:solidFill>
            <a:schemeClr val="bg2">
              <a:lumMod val="90000"/>
            </a:schemeClr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ysClr val="windowText" lastClr="000000"/>
                </a:solidFill>
              </a:rPr>
              <a:t>JWT </a:t>
            </a:r>
            <a:r>
              <a:rPr lang="ko-KR" altLang="en-US" sz="1000">
                <a:solidFill>
                  <a:sysClr val="windowText" lastClr="000000"/>
                </a:solidFill>
              </a:rPr>
              <a:t>검증</a:t>
            </a:r>
          </a:p>
          <a:p>
            <a:r>
              <a:rPr lang="ko-KR" altLang="en-US" sz="1000">
                <a:solidFill>
                  <a:sysClr val="windowText" lastClr="000000"/>
                </a:solidFill>
              </a:rPr>
              <a:t>→ </a:t>
            </a:r>
            <a:r>
              <a:rPr lang="en-US" altLang="ko-KR" sz="1000">
                <a:solidFill>
                  <a:sysClr val="windowText" lastClr="000000"/>
                </a:solidFill>
              </a:rPr>
              <a:t>X-User-Id</a:t>
            </a:r>
          </a:p>
          <a:p>
            <a:r>
              <a:rPr lang="en-US" altLang="ko-KR" sz="1000">
                <a:solidFill>
                  <a:sysClr val="windowText" lastClr="000000"/>
                </a:solidFill>
              </a:rPr>
              <a:t>→ X-Roles </a:t>
            </a:r>
            <a:r>
              <a:rPr lang="ko-KR" altLang="en-US" sz="1000">
                <a:solidFill>
                  <a:sysClr val="windowText" lastClr="000000"/>
                </a:solidFill>
              </a:rPr>
              <a:t>전달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2AA1F2-3214-4644-BB4F-E8C13352898C}"/>
              </a:ext>
            </a:extLst>
          </p:cNvPr>
          <p:cNvSpPr txBox="1"/>
          <p:nvPr/>
        </p:nvSpPr>
        <p:spPr>
          <a:xfrm>
            <a:off x="5393612" y="1740193"/>
            <a:ext cx="1228704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/>
              <a:t>CREATED → PENDING_PAYMENT</a:t>
            </a:r>
            <a:endParaRPr lang="ko-KR" altLang="en-US" sz="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861781-4379-469B-981C-7B1CFA96A079}"/>
              </a:ext>
            </a:extLst>
          </p:cNvPr>
          <p:cNvSpPr txBox="1"/>
          <p:nvPr/>
        </p:nvSpPr>
        <p:spPr>
          <a:xfrm>
            <a:off x="5359493" y="4493952"/>
            <a:ext cx="1296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JetBrains Mono"/>
              </a:rPr>
              <a:t>X-Internal-Secret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AF58BD-4DF7-4266-9989-214C463FE587}"/>
              </a:ext>
            </a:extLst>
          </p:cNvPr>
          <p:cNvSpPr txBox="1"/>
          <p:nvPr/>
        </p:nvSpPr>
        <p:spPr>
          <a:xfrm>
            <a:off x="7239094" y="5322885"/>
            <a:ext cx="1296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JetBrains Mono"/>
              </a:rPr>
              <a:t>X-Internal-Secret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3F356B8-BBE5-4D68-B591-52DF967613D9}"/>
              </a:ext>
            </a:extLst>
          </p:cNvPr>
          <p:cNvSpPr/>
          <p:nvPr/>
        </p:nvSpPr>
        <p:spPr>
          <a:xfrm>
            <a:off x="4285855" y="3026985"/>
            <a:ext cx="1564607" cy="589116"/>
          </a:xfrm>
          <a:prstGeom prst="rect">
            <a:avLst/>
          </a:prstGeom>
          <a:solidFill>
            <a:schemeClr val="bg2">
              <a:lumMod val="90000"/>
            </a:schemeClr>
          </a:solidFill>
          <a:ln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ysClr val="windowText" lastClr="000000"/>
                </a:solidFill>
              </a:rPr>
              <a:t>idempotencyKey </a:t>
            </a:r>
            <a:r>
              <a:rPr lang="ko-KR" altLang="en-US" sz="1000">
                <a:solidFill>
                  <a:sysClr val="windowText" lastClr="000000"/>
                </a:solidFill>
              </a:rPr>
              <a:t>검사</a:t>
            </a:r>
          </a:p>
          <a:p>
            <a:r>
              <a:rPr lang="en-US" altLang="ko-KR" sz="1000">
                <a:solidFill>
                  <a:sysClr val="windowText" lastClr="000000"/>
                </a:solidFill>
              </a:rPr>
              <a:t>UNIQUE </a:t>
            </a:r>
            <a:r>
              <a:rPr lang="ko-KR" altLang="en-US" sz="1000">
                <a:solidFill>
                  <a:sysClr val="windowText" lastClr="000000"/>
                </a:solidFill>
              </a:rPr>
              <a:t>제약</a:t>
            </a:r>
          </a:p>
          <a:p>
            <a:r>
              <a:rPr lang="ko-KR" altLang="en-US" sz="1000">
                <a:solidFill>
                  <a:sysClr val="windowText" lastClr="000000"/>
                </a:solidFill>
              </a:rPr>
              <a:t>중복 요청 시 </a:t>
            </a:r>
            <a:r>
              <a:rPr lang="en-US" altLang="ko-KR" sz="1000">
                <a:solidFill>
                  <a:sysClr val="windowText" lastClr="000000"/>
                </a:solidFill>
              </a:rPr>
              <a:t>no-op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22BB9C-FD1C-4982-82AD-8D0C564FEAEE}"/>
              </a:ext>
            </a:extLst>
          </p:cNvPr>
          <p:cNvSpPr txBox="1"/>
          <p:nvPr/>
        </p:nvSpPr>
        <p:spPr>
          <a:xfrm>
            <a:off x="2422329" y="3979509"/>
            <a:ext cx="1519435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>
                <a:ln>
                  <a:noFill/>
                </a:ln>
                <a:effectLst/>
                <a:latin typeface="Arial Unicode MS"/>
                <a:ea typeface="JetBrains Mono"/>
              </a:rPr>
              <a:t>same key → no change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>
                <a:ln>
                  <a:noFill/>
                </a:ln>
                <a:effectLst/>
                <a:latin typeface="Arial Unicode MS"/>
                <a:ea typeface="JetBrains Mono"/>
              </a:rPr>
              <a:t>(no double stock deduction)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4DAE10-5F73-4485-86CD-12CC3F5B0BF8}"/>
              </a:ext>
            </a:extLst>
          </p:cNvPr>
          <p:cNvSpPr txBox="1"/>
          <p:nvPr/>
        </p:nvSpPr>
        <p:spPr>
          <a:xfrm>
            <a:off x="7105282" y="4984330"/>
            <a:ext cx="1564583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/>
              <a:t>stock &gt;= qty </a:t>
            </a:r>
            <a:r>
              <a:rPr lang="ko-KR" altLang="en-US" sz="800"/>
              <a:t>검증</a:t>
            </a:r>
          </a:p>
          <a:p>
            <a:r>
              <a:rPr lang="en-US" altLang="ko-KR" sz="800"/>
              <a:t>UPDATE stock = stock - qty</a:t>
            </a:r>
            <a:endParaRPr lang="en-US" altLang="ko-KR" sz="8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87DA3F9-9418-49E8-B5E2-C2F8E9C5574B}"/>
              </a:ext>
            </a:extLst>
          </p:cNvPr>
          <p:cNvCxnSpPr/>
          <p:nvPr/>
        </p:nvCxnSpPr>
        <p:spPr>
          <a:xfrm>
            <a:off x="1308962" y="3979508"/>
            <a:ext cx="37591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7CE87E0-E4FB-44C4-ABF2-43ED8953E09F}"/>
              </a:ext>
            </a:extLst>
          </p:cNvPr>
          <p:cNvSpPr/>
          <p:nvPr/>
        </p:nvSpPr>
        <p:spPr>
          <a:xfrm>
            <a:off x="1308962" y="1620433"/>
            <a:ext cx="3759195" cy="234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Phase 1: Start Payment (/pay)</a:t>
            </a:r>
            <a:endParaRPr lang="ko-KR" altLang="en-US" sz="10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0CDFD2F-B35B-49D6-AAE5-3D3757DCEBA4}"/>
              </a:ext>
            </a:extLst>
          </p:cNvPr>
          <p:cNvSpPr/>
          <p:nvPr/>
        </p:nvSpPr>
        <p:spPr>
          <a:xfrm>
            <a:off x="1302448" y="2660492"/>
            <a:ext cx="3759195" cy="234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Phase 2: Approve Payment (/approve)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80263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211</Words>
  <Application>Microsoft Office PowerPoint</Application>
  <PresentationFormat>와이드스크린</PresentationFormat>
  <Paragraphs>54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 Unicode MS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창균 김</dc:creator>
  <cp:lastModifiedBy>창균 김</cp:lastModifiedBy>
  <cp:revision>2</cp:revision>
  <dcterms:created xsi:type="dcterms:W3CDTF">2026-02-11T07:58:37Z</dcterms:created>
  <dcterms:modified xsi:type="dcterms:W3CDTF">2026-02-16T17:56:36Z</dcterms:modified>
</cp:coreProperties>
</file>